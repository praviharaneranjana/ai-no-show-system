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D28D9"/>
                </a:solidFill>
                <a:latin typeface="Helvetica"/>
              </a:defRPr>
            </a:pPr>
            <a:r>
              <a:t>SHAI: An Explainable Machine Learning &amp; Deterministic Operations Platform for Outpatient No-Show Prediction, Capacity Optimization, and Autonomous Rescheduling</a:t>
            </a:r>
          </a:p>
        </p:txBody>
      </p:sp>
      <p:pic>
        <p:nvPicPr>
          <p:cNvPr id="5" name="Picture 4" descr="shai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2194560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Pravihara Neranjana Abegunasekara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B.Sc. (Honours) in Software Engineering</a:t>
            </a:r>
            <a:br/>
            <a:r>
              <a:t>Faculty of Computing, NSBM Green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Final Year Research Project — Final Viva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Supervisor: Mr. Anton Jayakody (Senior Lecturer)</a:t>
            </a:r>
            <a:br/>
            <a:r>
              <a:t>Presentation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Presentation outline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Helvetica"/>
              </a:rPr>
              <a:t>01  </a:t>
            </a:r>
            <a:r>
              <a:rPr sz="1800">
                <a:solidFill>
                  <a:srgbClr val="1E293B"/>
                </a:solidFill>
                <a:latin typeface="Helvetica"/>
              </a:rPr>
              <a:t>Research context and problem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Helvetica"/>
              </a:rPr>
              <a:t>02  </a:t>
            </a:r>
            <a:r>
              <a:rPr sz="1800">
                <a:solidFill>
                  <a:srgbClr val="1E293B"/>
                </a:solidFill>
                <a:latin typeface="Helvetica"/>
              </a:rPr>
              <a:t>Literature gap and objectives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Helvetica"/>
              </a:rPr>
              <a:t>03  </a:t>
            </a:r>
            <a:r>
              <a:rPr sz="1800">
                <a:solidFill>
                  <a:srgbClr val="1E293B"/>
                </a:solidFill>
                <a:latin typeface="Helvetica"/>
              </a:rPr>
              <a:t>Research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Helvetica"/>
              </a:rPr>
              <a:t>04  </a:t>
            </a:r>
            <a:r>
              <a:rPr sz="1800">
                <a:solidFill>
                  <a:srgbClr val="1E293B"/>
                </a:solidFill>
                <a:latin typeface="Helvetica"/>
              </a:rPr>
              <a:t>Design and implementation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Helvetica"/>
              </a:rPr>
              <a:t>05  </a:t>
            </a:r>
            <a:r>
              <a:rPr sz="1800">
                <a:solidFill>
                  <a:srgbClr val="1E293B"/>
                </a:solidFill>
                <a:latin typeface="Helvetica"/>
              </a:rPr>
              <a:t>Evaluation and findings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800" b="1">
                <a:solidFill>
                  <a:srgbClr val="6D28D9"/>
                </a:solidFill>
                <a:latin typeface="Helvetica"/>
              </a:rPr>
              <a:t>06  </a:t>
            </a:r>
            <a:r>
              <a:rPr sz="1800">
                <a:solidFill>
                  <a:srgbClr val="1E293B"/>
                </a:solidFill>
                <a:latin typeface="Helvetica"/>
              </a:rPr>
              <a:t>Contribution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Background and motivation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Clinical &amp; Operational Context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Research Domain: </a:t>
            </a:r>
            <a:r>
              <a:rPr sz="1200">
                <a:solidFill>
                  <a:srgbClr val="1E293B"/>
                </a:solidFill>
                <a:latin typeface="Arial"/>
              </a:rPr>
              <a:t>Ambulatory outpatient clinical scheduling within private tertiary hospital systems.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User Setting: </a:t>
            </a:r>
            <a:r>
              <a:rPr sz="1200">
                <a:solidFill>
                  <a:srgbClr val="1E293B"/>
                </a:solidFill>
                <a:latin typeface="Arial"/>
              </a:rPr>
              <a:t>Private hospital channelling operations in Sri Lanka (modeled on Asiri Central Hospital, Colombo).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Operational Friction: </a:t>
            </a:r>
            <a:r>
              <a:rPr sz="1200">
                <a:solidFill>
                  <a:srgbClr val="1E293B"/>
                </a:solidFill>
                <a:latin typeface="Arial"/>
              </a:rPr>
              <a:t>Outpatient no-shows range between 15% to 30%, causing idle specialist consultation windows.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Healthcare Delivery Friction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Irrecoverable Losses: </a:t>
            </a:r>
            <a:r>
              <a:rPr sz="1200">
                <a:solidFill>
                  <a:srgbClr val="1E293B"/>
                </a:solidFill>
                <a:latin typeface="Arial"/>
              </a:rPr>
              <a:t>Consultant doctors operate in rigid evening sessions; unannounced absences cannot be backfilled.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Sourced Benchmark: </a:t>
            </a:r>
            <a:r>
              <a:rPr sz="1200">
                <a:solidFill>
                  <a:srgbClr val="1E293B"/>
                </a:solidFill>
                <a:latin typeface="Arial"/>
              </a:rPr>
              <a:t>Rajasuriya et al. (2010) observed 31.3%–35.8% baseline non-attendance in Colombo NHSL psychiatric clinics. Source: Rajasuriya, de Silva &amp; Hanwella, The Psychiatrist (2010)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Research problem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Problem Statement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Core Problem: </a:t>
            </a:r>
            <a:r>
              <a:rPr sz="1200">
                <a:solidFill>
                  <a:srgbClr val="1E293B"/>
                </a:solidFill>
                <a:latin typeface="Arial"/>
              </a:rPr>
              <a:t>Outpatient scheduling systems treat every booking as guaranteed attendance, ignoring non-linear behavioral friction and causing severe clinic slot wastage and lost revenue.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Financial Burden: </a:t>
            </a:r>
            <a:r>
              <a:rPr sz="1200">
                <a:solidFill>
                  <a:srgbClr val="1E293B"/>
                </a:solidFill>
                <a:latin typeface="Arial"/>
              </a:rPr>
              <a:t>Private specialist fees (LKR 2,000–4,700) represent unrecoverable financial attrition per unannounced absence.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Evidence of the Problem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Current Workflow Failure: </a:t>
            </a:r>
            <a:r>
              <a:rPr sz="1200">
                <a:solidFill>
                  <a:srgbClr val="1E293B"/>
                </a:solidFill>
                <a:latin typeface="Arial"/>
              </a:rPr>
              <a:t>Existing Hospital Information Systems (HIS) lack prospective probabilistic risk intelligence.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Target User Impact: </a:t>
            </a:r>
            <a:r>
              <a:rPr sz="1200">
                <a:solidFill>
                  <a:srgbClr val="1E293B"/>
                </a:solidFill>
                <a:latin typeface="Arial"/>
              </a:rPr>
              <a:t>Front-desk staff face unmanageable queue surges or empty clinics; physicians suffer idle consultation hours.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Intervention Insufficiency: </a:t>
            </a:r>
            <a:r>
              <a:rPr sz="1200">
                <a:solidFill>
                  <a:srgbClr val="1E293B"/>
                </a:solidFill>
                <a:latin typeface="Arial"/>
              </a:rPr>
              <a:t>Standard broadcast SMS messages are one-way and static, converting no-shows into late unfilled vacancies without automated rescheduling options.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Related work and research gap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Prior Approaches &amp; Limitations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Mohammadi et al. (2018): </a:t>
            </a:r>
            <a:r>
              <a:rPr sz="1200">
                <a:solidFill>
                  <a:srgbClr val="1E293B"/>
                </a:solidFill>
                <a:latin typeface="Arial"/>
              </a:rPr>
              <a:t>Standard ML models achieve good discrimination but output uncalibrated probabilities, distorting queue overbooking.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Gurol-Urganci et al. (2013): </a:t>
            </a:r>
            <a:r>
              <a:rPr sz="1200">
                <a:solidFill>
                  <a:srgbClr val="1E293B"/>
                </a:solidFill>
                <a:latin typeface="Arial"/>
              </a:rPr>
              <a:t>Cochrane review proves text reminders help, but broadcast messaging offers no dynamic slot recovery mechanism.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Rajasuriya et al. (2010): </a:t>
            </a:r>
            <a:r>
              <a:rPr sz="1200">
                <a:solidFill>
                  <a:srgbClr val="1E293B"/>
                </a:solidFill>
                <a:latin typeface="Arial"/>
              </a:rPr>
              <a:t>Reported 26.2% recall in Colombo but lacked a control group, omitted costs, and only evaluated post-miss recall.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Identified Research Gap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Unresolved Literature Gap: </a:t>
            </a:r>
            <a:r>
              <a:rPr sz="1200">
                <a:solidFill>
                  <a:srgbClr val="1E293B"/>
                </a:solidFill>
                <a:latin typeface="Arial"/>
              </a:rPr>
              <a:t>Prior systems treat prediction as an isolated classification task, failing to bridge probability calibration, queue overbooking, and patient-centric multi-turn rescheduling.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Project Resolution (SHAI): </a:t>
            </a:r>
            <a:r>
              <a:rPr sz="1200">
                <a:solidFill>
                  <a:srgbClr val="1E293B"/>
                </a:solidFill>
                <a:latin typeface="Arial"/>
              </a:rPr>
              <a:t>Delivers an end-to-end platform coupling calibrated XGBoost, exact Poisson-binomial convolution overbooking, TreeSHAP, and trilingual conversational rescheduling with staff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Research questions and objectives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Research Questions &amp; Aim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Main Research Question: </a:t>
            </a:r>
            <a:r>
              <a:rPr sz="1200">
                <a:solidFill>
                  <a:srgbClr val="1E293B"/>
                </a:solidFill>
                <a:latin typeface="Arial"/>
              </a:rPr>
              <a:t>How can an explainable, calibrated machine learning model be integrated with exact queue optimization and automated trilingual dialogue to minimize outpatient no-shows and protect clinic revenue?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Overall Research Aim: </a:t>
            </a:r>
            <a:r>
              <a:rPr sz="1200">
                <a:solidFill>
                  <a:srgbClr val="1E293B"/>
                </a:solidFill>
                <a:latin typeface="Arial"/>
              </a:rPr>
              <a:t>To design, implement, and evaluate SHAI, an integrated operations platform for calibrated prediction, capacity overbooking, and autonomous rescheduling.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Specific Objectives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O1: Calibrated Prediction: </a:t>
            </a:r>
            <a:r>
              <a:rPr sz="1200">
                <a:solidFill>
                  <a:srgbClr val="1E293B"/>
                </a:solidFill>
                <a:latin typeface="Arial"/>
              </a:rPr>
              <a:t>Train XGBoost models and apply isotonic calibration to achieve reliable probabilities and high targeting lift.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O2: Explainability &amp; Action: </a:t>
            </a:r>
            <a:r>
              <a:rPr sz="1200">
                <a:solidFill>
                  <a:srgbClr val="1E293B"/>
                </a:solidFill>
                <a:latin typeface="Arial"/>
              </a:rPr>
              <a:t>Compute TreeSHAP attributions and derive a transparent heuristic action recommendation layer.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O3: Dynamic Overbooking: </a:t>
            </a:r>
            <a:r>
              <a:rPr sz="1200">
                <a:solidFill>
                  <a:srgbClr val="1E293B"/>
                </a:solidFill>
                <a:latin typeface="Arial"/>
              </a:rPr>
              <a:t>Formulate exact Poisson-binomial dynamic programming convolution to maximize revenue while constraining doctor overtime.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Scope and significance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System Scope &amp; Boundaries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Within Scope: </a:t>
            </a:r>
            <a:r>
              <a:rPr sz="1200">
                <a:solidFill>
                  <a:srgbClr val="1E293B"/>
                </a:solidFill>
                <a:latin typeface="Arial"/>
              </a:rPr>
              <a:t>Private tertiary outpatient clinics, 16 clinical departments, full-stack Next.js/FastAPI platform, trilingual messaging, and capacity optimization.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Outside Scope: </a:t>
            </a:r>
            <a:r>
              <a:rPr sz="1200">
                <a:solidFill>
                  <a:srgbClr val="1E293B"/>
                </a:solidFill>
                <a:latin typeface="Arial"/>
              </a:rPr>
              <a:t>Inpatient admissions, operating theater scheduling, live telecom SIM gateway (simulated delivery), and cross-specialty rescheduling.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Expected Value &amp; Beneficiaries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Institutional Value: </a:t>
            </a:r>
            <a:r>
              <a:rPr sz="1200">
                <a:solidFill>
                  <a:srgbClr val="1E293B"/>
                </a:solidFill>
                <a:latin typeface="Arial"/>
              </a:rPr>
              <a:t>Enables hospital management to reduce slot wastage, protect consultation fees, and allocate administrative outreach effectively.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Research Boundary: </a:t>
            </a:r>
            <a:r>
              <a:rPr sz="1200">
                <a:solidFill>
                  <a:srgbClr val="1E293B"/>
                </a:solidFill>
                <a:latin typeface="Arial"/>
              </a:rPr>
              <a:t>Modeled on Colombo private healthcare dynamics; evaluated on 64,444 multi-specialty appointment records with 90-day live database replay.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Data collection and ethical considerations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Data Acquisition &amp; Schema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Data Generation: </a:t>
            </a:r>
            <a:r>
              <a:rPr sz="1200">
                <a:solidFill>
                  <a:srgbClr val="1E293B"/>
                </a:solidFill>
                <a:latin typeface="Arial"/>
              </a:rPr>
              <a:t>64,444 synthetic outpatient appointments modeled on Asiri Central Hospital parameters across 16 departments.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Chronological Split: </a:t>
            </a:r>
            <a:r>
              <a:rPr sz="1200">
                <a:solidFill>
                  <a:srgbClr val="1E293B"/>
                </a:solidFill>
                <a:latin typeface="Arial"/>
              </a:rPr>
              <a:t>Strict temporal partitioning: 42,693 train / 12,366 val / 9,385 test, preventing future temporal data leakage.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Feature Acquisition: </a:t>
            </a:r>
            <a:r>
              <a:rPr sz="1200">
                <a:solidFill>
                  <a:srgbClr val="1E293B"/>
                </a:solidFill>
                <a:latin typeface="Arial"/>
              </a:rPr>
              <a:t>Engineered 42 features incorporating lead time, prior history, 16,450 Sri Lankan transit distances, and weather.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Ethics, Privacy &amp; Quality Controls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Clinical Ethics &amp; Privacy: </a:t>
            </a:r>
            <a:r>
              <a:rPr sz="1200">
                <a:solidFill>
                  <a:srgbClr val="1E293B"/>
                </a:solidFill>
                <a:latin typeface="Arial"/>
              </a:rPr>
              <a:t>Patient identifiers never leave server; mental health &amp; psychiatry specialties masked to neutral 'clinic' descriptors.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Data Quality &amp; Sanity: </a:t>
            </a:r>
            <a:r>
              <a:rPr sz="1200">
                <a:solidFill>
                  <a:srgbClr val="1E293B"/>
                </a:solidFill>
                <a:latin typeface="Arial"/>
              </a:rPr>
              <a:t>Verified monotonic lead time curves, zero leakage, and complete feature alignment across relational schemas.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Proposed approach or conceptual framework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5577840" cy="44805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Helvetica"/>
              </a:defRPr>
            </a:pPr>
            <a:r>
              <a:t>System Conceptual Architecture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1. </a:t>
            </a:r>
            <a:r>
              <a:rPr sz="1200" b="1">
                <a:solidFill>
                  <a:srgbClr val="1E293B"/>
                </a:solidFill>
                <a:latin typeface="Helvetica"/>
              </a:rPr>
              <a:t>Calibrated ML Core: </a:t>
            </a:r>
            <a:r>
              <a:rPr sz="1150">
                <a:solidFill>
                  <a:srgbClr val="1E293B"/>
                </a:solidFill>
                <a:latin typeface="Arial"/>
              </a:rPr>
              <a:t>Tuned XGBoost classifier mapped through isotonic regression to produce mathematically faithful probabilities.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2. </a:t>
            </a:r>
            <a:r>
              <a:rPr sz="1200" b="1">
                <a:solidFill>
                  <a:srgbClr val="1E293B"/>
                </a:solidFill>
                <a:latin typeface="Helvetica"/>
              </a:rPr>
              <a:t>TreeSHAP Explainability: </a:t>
            </a:r>
            <a:r>
              <a:rPr sz="1150">
                <a:solidFill>
                  <a:srgbClr val="1E293B"/>
                </a:solidFill>
                <a:latin typeface="Arial"/>
              </a:rPr>
              <a:t>Calculates local feature attributions in polynomial time, feeding transparent heuristic recommendations.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3. </a:t>
            </a:r>
            <a:r>
              <a:rPr sz="1200" b="1">
                <a:solidFill>
                  <a:srgbClr val="1E293B"/>
                </a:solidFill>
                <a:latin typeface="Helvetica"/>
              </a:rPr>
              <a:t>Exact Queue Overbooking: </a:t>
            </a:r>
            <a:r>
              <a:rPr sz="1150">
                <a:solidFill>
                  <a:srgbClr val="1E293B"/>
                </a:solidFill>
                <a:latin typeface="Arial"/>
              </a:rPr>
              <a:t>Poisson-binomial dynamic programming convolution balances fee revenue against doctor overrun penalties.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4. </a:t>
            </a:r>
            <a:r>
              <a:rPr sz="1200" b="1">
                <a:solidFill>
                  <a:srgbClr val="1E293B"/>
                </a:solidFill>
                <a:latin typeface="Helvetica"/>
              </a:rPr>
              <a:t>Ask-First State Machine: </a:t>
            </a:r>
            <a:r>
              <a:rPr sz="1150">
                <a:solidFill>
                  <a:srgbClr val="1E293B"/>
                </a:solidFill>
                <a:latin typeface="Arial"/>
              </a:rPr>
              <a:t>Automated multi-turn dialogue in English, Sinhala, and Tamil queries confirmation before proposing slots.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5. </a:t>
            </a:r>
            <a:r>
              <a:rPr sz="1200" b="1">
                <a:solidFill>
                  <a:srgbClr val="1E293B"/>
                </a:solidFill>
                <a:latin typeface="Helvetica"/>
              </a:rPr>
              <a:t>Human-in-the-Loop Barrier: </a:t>
            </a:r>
            <a:r>
              <a:rPr sz="1150">
                <a:solidFill>
                  <a:srgbClr val="1E293B"/>
                </a:solidFill>
                <a:latin typeface="Arial"/>
              </a:rPr>
              <a:t>Conversations pause at 'pending_approval' state; authorized hospital staff verify before slot 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4846320" cy="4206240"/>
          </a:xfrm>
          <a:prstGeom prst="roundRect">
            <a:avLst/>
          </a:prstGeom>
          <a:solidFill>
            <a:srgbClr val="FA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111020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663440" cy="2914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Arial"/>
              </a:defRPr>
            </a:pPr>
            <a:r>
              <a:t>Evidence: SHAI End-to-End Operational Architecture &amp;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Design and implementation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5577840" cy="44805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Helvetica"/>
              </a:defRPr>
            </a:pPr>
            <a:r>
              <a:t>Implementation Decisions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1. </a:t>
            </a:r>
            <a:r>
              <a:rPr sz="1200" b="1">
                <a:solidFill>
                  <a:srgbClr val="1E293B"/>
                </a:solidFill>
                <a:latin typeface="Helvetica"/>
              </a:rPr>
              <a:t>Decoupled Multi-Tier Stack: </a:t>
            </a:r>
            <a:r>
              <a:rPr sz="1150">
                <a:solidFill>
                  <a:srgbClr val="1E293B"/>
                </a:solidFill>
                <a:latin typeface="Arial"/>
              </a:rPr>
              <a:t>Next.js 16 (React 19, TypeScript), FastAPI (Python 3.12), and PostgreSQL 16 relational data persistence.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2. </a:t>
            </a:r>
            <a:r>
              <a:rPr sz="1200" b="1">
                <a:solidFill>
                  <a:srgbClr val="1E293B"/>
                </a:solidFill>
                <a:latin typeface="Helvetica"/>
              </a:rPr>
              <a:t>Desktop Packaging: </a:t>
            </a:r>
            <a:r>
              <a:rPr sz="1150">
                <a:solidFill>
                  <a:srgbClr val="1E293B"/>
                </a:solidFill>
                <a:latin typeface="Arial"/>
              </a:rPr>
              <a:t>Electron 33 standalone wrapper enables secure local desktop execution for hospital front-desk workstations.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3. </a:t>
            </a:r>
            <a:r>
              <a:rPr sz="1200" b="1">
                <a:solidFill>
                  <a:srgbClr val="1E293B"/>
                </a:solidFill>
                <a:latin typeface="Helvetica"/>
              </a:rPr>
              <a:t>Relational Persistence Tier: </a:t>
            </a:r>
            <a:r>
              <a:rPr sz="1150">
                <a:solidFill>
                  <a:srgbClr val="1E293B"/>
                </a:solidFill>
                <a:latin typeface="Arial"/>
              </a:rPr>
              <a:t>32 PostgreSQL tables managed under Alembic migrations (head c9d0e1f2a3b4) supporting multi-tenancy.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4. </a:t>
            </a:r>
            <a:r>
              <a:rPr sz="1200" b="1">
                <a:solidFill>
                  <a:srgbClr val="1E293B"/>
                </a:solidFill>
                <a:latin typeface="Helvetica"/>
              </a:rPr>
              <a:t>Interactive Analytics: </a:t>
            </a:r>
            <a:r>
              <a:rPr sz="1150">
                <a:solidFill>
                  <a:srgbClr val="1E293B"/>
                </a:solidFill>
                <a:latin typeface="Arial"/>
              </a:rPr>
              <a:t>Built-in Recharts telemetry, MapLibre GL geospatial transit mapping, and live doctor session punctuality tracking.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5. </a:t>
            </a:r>
            <a:r>
              <a:rPr sz="1200" b="1">
                <a:solidFill>
                  <a:srgbClr val="1E293B"/>
                </a:solidFill>
                <a:latin typeface="Helvetica"/>
              </a:rPr>
              <a:t>Software Quality Rigor: </a:t>
            </a:r>
            <a:r>
              <a:rPr sz="1150">
                <a:solidFill>
                  <a:srgbClr val="1E293B"/>
                </a:solidFill>
                <a:latin typeface="Arial"/>
              </a:rPr>
              <a:t>233 passing backend unit/integration tests and 31 frontend component unit tests with zero lint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4846320" cy="4206240"/>
          </a:xfrm>
          <a:prstGeom prst="roundRect">
            <a:avLst/>
          </a:prstGeom>
          <a:solidFill>
            <a:srgbClr val="FA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1110689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663440" cy="2914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Arial"/>
              </a:defRPr>
            </a:pPr>
            <a:r>
              <a:t>Evidence: Staff Governance Console &amp; Multi-Tenant Role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System demonstration or worked example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5577840" cy="44805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Helvetica"/>
              </a:defRPr>
            </a:pPr>
            <a:r>
              <a:t>Live Clinical Demonstration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1. </a:t>
            </a:r>
            <a:r>
              <a:rPr sz="1200" b="1">
                <a:solidFill>
                  <a:srgbClr val="1E293B"/>
                </a:solidFill>
                <a:latin typeface="Helvetica"/>
              </a:rPr>
              <a:t>4-Step Intake Wizard: </a:t>
            </a:r>
            <a:r>
              <a:rPr sz="1150">
                <a:solidFill>
                  <a:srgbClr val="1E293B"/>
                </a:solidFill>
                <a:latin typeface="Arial"/>
              </a:rPr>
              <a:t>Registration captures demographics, OSRM transit distance (3.5 km), clinical specialty, and payment mode.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2. </a:t>
            </a:r>
            <a:r>
              <a:rPr sz="1200" b="1">
                <a:solidFill>
                  <a:srgbClr val="1E293B"/>
                </a:solidFill>
                <a:latin typeface="Helvetica"/>
              </a:rPr>
              <a:t>Instant Risk Scoring: </a:t>
            </a:r>
            <a:r>
              <a:rPr sz="1150">
                <a:solidFill>
                  <a:srgbClr val="1E293B"/>
                </a:solidFill>
                <a:latin typeface="Arial"/>
              </a:rPr>
              <a:t>Engine immediately scores appointment, displaying risk category (13% Low) and top SHAP drivers.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3. </a:t>
            </a:r>
            <a:r>
              <a:rPr sz="1200" b="1">
                <a:solidFill>
                  <a:srgbClr val="1E293B"/>
                </a:solidFill>
                <a:latin typeface="Helvetica"/>
              </a:rPr>
              <a:t>Master Schedule Triage: </a:t>
            </a:r>
            <a:r>
              <a:rPr sz="1150">
                <a:solidFill>
                  <a:srgbClr val="1E293B"/>
                </a:solidFill>
                <a:latin typeface="Arial"/>
              </a:rPr>
              <a:t>Front-desk console highlights high-risk appointments (e.g. 95% High) with specific recommended actions.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4. </a:t>
            </a:r>
            <a:r>
              <a:rPr sz="1200" b="1">
                <a:solidFill>
                  <a:srgbClr val="1E293B"/>
                </a:solidFill>
                <a:latin typeface="Helvetica"/>
              </a:rPr>
              <a:t>Batch Prediction Hub: </a:t>
            </a:r>
            <a:r>
              <a:rPr sz="1150">
                <a:solidFill>
                  <a:srgbClr val="1E293B"/>
                </a:solidFill>
                <a:latin typeface="Arial"/>
              </a:rPr>
              <a:t>Batch scores daily clinic cohorts, calculating expected revenue at risk and auto-drafting outreach.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5. </a:t>
            </a:r>
            <a:r>
              <a:rPr sz="1200" b="1">
                <a:solidFill>
                  <a:srgbClr val="1E293B"/>
                </a:solidFill>
                <a:latin typeface="Helvetica"/>
              </a:rPr>
              <a:t>Staff Approval Workflow: </a:t>
            </a:r>
            <a:r>
              <a:rPr sz="1150">
                <a:solidFill>
                  <a:srgbClr val="1E293B"/>
                </a:solidFill>
                <a:latin typeface="Arial"/>
              </a:rPr>
              <a:t>Patient accepts rescheduled slot via WhatsApp chat; front desk clicks 'Approve &amp; Book' to commit slot.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4846320" cy="4206240"/>
          </a:xfrm>
          <a:prstGeom prst="roundRect">
            <a:avLst/>
          </a:prstGeom>
          <a:solidFill>
            <a:srgbClr val="FA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1109337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663440" cy="2914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Arial"/>
              </a:defRPr>
            </a:pPr>
            <a:r>
              <a:t>Evidence: Appointments Master Schedule with Calibrated Triage Badges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Evaluation design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Evaluation Setup &amp; Data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Core Evaluation Questions: </a:t>
            </a:r>
            <a:r>
              <a:rPr sz="1200">
                <a:solidFill>
                  <a:srgbClr val="1E293B"/>
                </a:solidFill>
                <a:latin typeface="Arial"/>
              </a:rPr>
              <a:t>How accurately does the model discriminate? Are probabilities reliable? Does risk-ranking recover more revenue?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Evaluation Test Setup: </a:t>
            </a:r>
            <a:r>
              <a:rPr sz="1200">
                <a:solidFill>
                  <a:srgbClr val="1E293B"/>
                </a:solidFill>
                <a:latin typeface="Arial"/>
              </a:rPr>
              <a:t>Out-of-sample chronological test set (N = 9,385 appointments) never seen during training or calibration.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External Benchmark: </a:t>
            </a:r>
            <a:r>
              <a:rPr sz="1200">
                <a:solidFill>
                  <a:srgbClr val="1E293B"/>
                </a:solidFill>
                <a:latin typeface="Arial"/>
              </a:rPr>
              <a:t>Real-world Kaggle medical appointment dataset (N = 110,527) evaluated using the identical ML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Metrics, Baselines &amp; Quality Controls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Target Metrics: </a:t>
            </a:r>
            <a:r>
              <a:rPr sz="1200">
                <a:solidFill>
                  <a:srgbClr val="1E293B"/>
                </a:solidFill>
                <a:latin typeface="Arial"/>
              </a:rPr>
              <a:t>ROC-AUC, PR-AUC, Brier score, Recall/Precision/Lift at top 20%, and 90-day operational revenue recovery.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Quality &amp; Leakage Controls: </a:t>
            </a:r>
            <a:r>
              <a:rPr sz="1200">
                <a:solidFill>
                  <a:srgbClr val="1E293B"/>
                </a:solidFill>
                <a:latin typeface="Arial"/>
              </a:rPr>
              <a:t>Chronological temporal splits prevent forward-looking leakage; subgroup fairness audits verify demographic equity.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Results and key findings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5577840" cy="44805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Helvetica"/>
              </a:defRPr>
            </a:pPr>
            <a:r>
              <a:t>Empirical Validation Results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t>1. Superior Model Discrimination: Tuned XGBoost achieved 0.672 ROC-AUC (95% CI: [0.658, 0.686]) and 0.266 PR-AUC on chronological test data.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2. </a:t>
            </a:r>
            <a:r>
              <a:rPr sz="1200" b="1">
                <a:solidFill>
                  <a:srgbClr val="1E293B"/>
                </a:solidFill>
                <a:latin typeface="Helvetica"/>
              </a:rPr>
              <a:t>Real-World Benchmark Efficacy: </a:t>
            </a:r>
            <a:r>
              <a:rPr sz="1150">
                <a:solidFill>
                  <a:srgbClr val="1E293B"/>
                </a:solidFill>
                <a:latin typeface="Arial"/>
              </a:rPr>
              <a:t>Achieved 0.736 ROC-AUC and 1.904x lift on real-world Kaggle benchmark (N=110,527), proving generalizability.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t>3. Near-Perfect Probability Calibration: Isotonic regression reduced Brier score to 0.1237; predicted deciles track empirical outcomes on reliability plots.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t>4. High Operational Targeting Lift: Top 20% risk tier captured 36.3% of empirical no-shows, delivering a 1.82x lift over random hospital outreach.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5. </a:t>
            </a:r>
            <a:r>
              <a:rPr sz="1200" b="1">
                <a:solidFill>
                  <a:srgbClr val="1E293B"/>
                </a:solidFill>
                <a:latin typeface="Helvetica"/>
              </a:rPr>
              <a:t>Hypothesis Confirmation: </a:t>
            </a:r>
            <a:r>
              <a:rPr sz="1150">
                <a:solidFill>
                  <a:srgbClr val="1E293B"/>
                </a:solidFill>
                <a:latin typeface="Arial"/>
              </a:rPr>
              <a:t>Lead time (OR 1.235, p&lt;0.001) and rain (OR 1.153) significantly elevate risk; prepayment (OR 0.743) strongly protects.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4846320" cy="4206240"/>
          </a:xfrm>
          <a:prstGeom prst="roundRect">
            <a:avLst/>
          </a:prstGeom>
          <a:solidFill>
            <a:srgbClr val="FA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1114861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663440" cy="3742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Arial"/>
              </a:defRPr>
            </a:pPr>
            <a:r>
              <a:t>Evidence: Out-of-Sample Reliability Diagram (Calibrated Probabilities vs Observed)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Discussion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Interpretation &amp; Literature Alignment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Interpretation of Findings: </a:t>
            </a:r>
            <a:r>
              <a:rPr sz="1200">
                <a:solidFill>
                  <a:srgbClr val="1E293B"/>
                </a:solidFill>
                <a:latin typeface="Arial"/>
              </a:rPr>
              <a:t>Appointment absenteeism is fundamentally driven by scheduling lead time, historical patterns, and weather friction.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Reconciliation with Rajasuriya (2010): </a:t>
            </a:r>
            <a:r>
              <a:rPr sz="1200">
                <a:solidFill>
                  <a:srgbClr val="1E293B"/>
                </a:solidFill>
                <a:latin typeface="Arial"/>
              </a:rPr>
              <a:t>While Rajasuriya observed 26.2% recall in public psychiatry without a control, SHAI establishes a prospective dual-horizon system with randomized hold-outs.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Answers to Research Questions &amp; Meaning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Evidence Supports Research Questions: </a:t>
            </a:r>
            <a:r>
              <a:rPr sz="1200">
                <a:solidFill>
                  <a:srgbClr val="1E293B"/>
                </a:solidFill>
                <a:latin typeface="Arial"/>
              </a:rPr>
              <a:t>Calibrated ML combined with exact overbooking and trilingual dialogue safely mitigates outpatient clinic slot wastage.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Practical Health System Meaning: </a:t>
            </a:r>
            <a:r>
              <a:rPr sz="1200">
                <a:solidFill>
                  <a:srgbClr val="1E293B"/>
                </a:solidFill>
                <a:latin typeface="Arial"/>
              </a:rPr>
              <a:t>Hospitals must transition from static booking to probabilistic capacity management, targeting administrative effort on high-risk tiers.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Research contribution and objectives achieved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Core Research Deliverables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Original Contribution: </a:t>
            </a:r>
            <a:r>
              <a:rPr sz="1200">
                <a:solidFill>
                  <a:srgbClr val="1E293B"/>
                </a:solidFill>
                <a:latin typeface="Arial"/>
              </a:rPr>
              <a:t>First end-to-end healthcare operations platform integrating calibrated GBDT, TreeSHAP, exact dynamic programming overbooking, and trilingual conversational rescheduling.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Operational Evidence: </a:t>
            </a:r>
            <a:r>
              <a:rPr sz="1200">
                <a:solidFill>
                  <a:srgbClr val="1E293B"/>
                </a:solidFill>
                <a:latin typeface="Arial"/>
              </a:rPr>
              <a:t>Replay of 9,266 hospital bookings proved risk-ranking captures 47.4% of no-shows vs 27.4% random, recovering +LKR 228,600 extra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Objective Attainment Status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t>• O1 Attainment: Calibrated ML: Achieved 0.672 ROC-AUC, 0.1237 Brier score, and 1.82x targeting lift [Fully Achieved].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O2 Attainment: Explainable Action: </a:t>
            </a:r>
            <a:r>
              <a:rPr sz="1200">
                <a:solidFill>
                  <a:srgbClr val="1E293B"/>
                </a:solidFill>
                <a:latin typeface="Arial"/>
              </a:rPr>
              <a:t>Computed TreeSHAP attributions and deployed transparent heuristic action recommendation layer [Fully Achieved].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O3 Attainment: Dynamic Overbooking: </a:t>
            </a:r>
            <a:r>
              <a:rPr sz="1200">
                <a:solidFill>
                  <a:srgbClr val="1E293B"/>
                </a:solidFill>
                <a:latin typeface="Arial"/>
              </a:rPr>
              <a:t>Formulated exact Poisson-binomial overbooking model and interactive What-If Studio [Fully Achieved].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Limitations and future work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Threats to Validity &amp; Limitations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Data Boundary: </a:t>
            </a:r>
            <a:r>
              <a:rPr sz="1200">
                <a:solidFill>
                  <a:srgbClr val="1E293B"/>
                </a:solidFill>
                <a:latin typeface="Arial"/>
              </a:rPr>
              <a:t>Primary training evaluated on synthetic healthcare data; model pending prospective validation on real hospital outcomes.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Communication Boundary: </a:t>
            </a:r>
            <a:r>
              <a:rPr sz="1200">
                <a:solidFill>
                  <a:srgbClr val="1E293B"/>
                </a:solidFill>
                <a:latin typeface="Arial"/>
              </a:rPr>
              <a:t>Outreach executes through simulated channels rather than active live commercial SMS/WhatsApp telecom gateways.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Scheduling Boundary: </a:t>
            </a:r>
            <a:r>
              <a:rPr sz="1200">
                <a:solidFill>
                  <a:srgbClr val="1E293B"/>
                </a:solidFill>
                <a:latin typeface="Arial"/>
              </a:rPr>
              <a:t>Automated slot moves are restricted to the same clinical department.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Directions for Future Research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Future Clinical RCT: </a:t>
            </a:r>
            <a:r>
              <a:rPr sz="1200">
                <a:solidFill>
                  <a:srgbClr val="1E293B"/>
                </a:solidFill>
                <a:latin typeface="Arial"/>
              </a:rPr>
              <a:t>Deploy prospective clinical trial utilizing built-in randomized hold-out protocol (holdout.py) to measure true causal ITT efficacy.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Clinical Variable Expansion: </a:t>
            </a:r>
            <a:r>
              <a:rPr sz="1200">
                <a:solidFill>
                  <a:srgbClr val="1E293B"/>
                </a:solidFill>
                <a:latin typeface="Arial"/>
              </a:rPr>
              <a:t>Incorporate ICD-10 diagnostic codes, laboratory orders, and prescription medication compliance data.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Enterprise Interoperability: </a:t>
            </a:r>
            <a:r>
              <a:rPr sz="1200">
                <a:solidFill>
                  <a:srgbClr val="1E293B"/>
                </a:solidFill>
                <a:latin typeface="Arial"/>
              </a:rPr>
              <a:t>Engineer standardized HL7 FHIR connectors for seamless electronic health record (EHR) integration.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Conclusion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Problem &amp; Empirical Summary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Problem Restatement: </a:t>
            </a:r>
            <a:r>
              <a:rPr sz="1200">
                <a:solidFill>
                  <a:srgbClr val="1E293B"/>
                </a:solidFill>
                <a:latin typeface="Arial"/>
              </a:rPr>
              <a:t>Outpatient no-shows impose severe clinic slot wastage, physician idle time, and revenue leakage in Sri Lankan private healthcare.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t>• Strongest Supported Finding: Isotonically calibrated XGBoost identifies high-risk visits with 1.82x targeting lift, capturing 47.4% of no-shows in live database replay.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Contributions &amp; Final Verdict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Main Engineering Contribution: </a:t>
            </a:r>
            <a:r>
              <a:rPr sz="1200">
                <a:solidFill>
                  <a:srgbClr val="1E293B"/>
                </a:solidFill>
                <a:latin typeface="Arial"/>
              </a:rPr>
              <a:t>Engineered SHAI, bridging predictive AI to hospital operations via exact Poisson-binomial overbooking and trilingual ask-first rescheduling.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Final Establishing Message: </a:t>
            </a:r>
            <a:r>
              <a:rPr sz="1200">
                <a:solidFill>
                  <a:srgbClr val="1E293B"/>
                </a:solidFill>
                <a:latin typeface="Arial"/>
              </a:rPr>
              <a:t>Predictive machine learning safely integrated with deterministic clinical governance protects consultation revenue and upholds patient continuity of care.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Selected references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Foundational Clinical &amp; ML Citations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[1]: </a:t>
            </a:r>
            <a:r>
              <a:rPr sz="1200">
                <a:solidFill>
                  <a:srgbClr val="1E293B"/>
                </a:solidFill>
                <a:latin typeface="Arial"/>
              </a:rPr>
              <a:t>M. Rajasuriya, V. de Silva, and R. Hanwella, 'Effectiveness of reminders in reducing non-attendance among out-patients,' The Psychiatrist, vol. 34, pp. 515–518, 2010.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[2]: </a:t>
            </a:r>
            <a:r>
              <a:rPr sz="1200">
                <a:solidFill>
                  <a:srgbClr val="1E293B"/>
                </a:solidFill>
                <a:latin typeface="Arial"/>
              </a:rPr>
              <a:t>T. Chen and C. Guestrin, 'XGBoost: A scalable tree boosting system,' in Proc. 22nd ACM SIGKDD, 2016, pp. 785–794.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[3]: </a:t>
            </a:r>
            <a:r>
              <a:rPr sz="1200">
                <a:solidFill>
                  <a:srgbClr val="1E293B"/>
                </a:solidFill>
                <a:latin typeface="Arial"/>
              </a:rPr>
              <a:t>S. M. Lundberg and S.-I. Lee, 'A unified approach to interpreting model predictions,' in NeurIPS 30, 2017, pp. 4765–4774.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Calibration &amp; Operations Research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[4]: </a:t>
            </a:r>
            <a:r>
              <a:rPr sz="1200">
                <a:solidFill>
                  <a:srgbClr val="1E293B"/>
                </a:solidFill>
                <a:latin typeface="Arial"/>
              </a:rPr>
              <a:t>C. Guo, G. Pleiss, Y. Sun, and K. Q. Weinberger, 'On calibration of modern neural networks,' in ICML, 2017, pp. 1321–1330.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[5]: </a:t>
            </a:r>
            <a:r>
              <a:rPr sz="1200">
                <a:solidFill>
                  <a:srgbClr val="1E293B"/>
                </a:solidFill>
                <a:latin typeface="Arial"/>
              </a:rPr>
              <a:t>I. Gurol-Urganci et al., 'Mobile phone messaging reminders for attendance at healthcare appointments,' Cochrane Database Syst. Rev., 2013.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t>• [6]: S. Srinivas and A. R. Ravindran, 'Optimizing outpatient appointment systems using machine learning and predictive analytics,' Expert Systems with Applications, vol. 111, pp. 116–130, 2018.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D28D9"/>
                </a:solidFill>
                <a:latin typeface="Helvetica"/>
              </a:defRPr>
            </a:pPr>
            <a:r>
              <a:t>Thank you</a:t>
            </a:r>
          </a:p>
          <a:p>
            <a:pPr>
              <a:spcBef>
                <a:spcPts val="1400"/>
              </a:spcBef>
              <a:defRPr sz="2400" b="1">
                <a:solidFill>
                  <a:srgbClr val="1E293B"/>
                </a:solidFill>
                <a:latin typeface="Helvetica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7772400" cy="164592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Helvetica"/>
              </a:defRPr>
            </a:pPr>
            <a:r>
              <a:t>Pravihara Neranjana Abegunasekara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B.Sc. (Honours) in Software Engineering · Faculty of Computing, NSBM Green University</a:t>
            </a:r>
            <a:br/>
            <a:r>
              <a:t>Project: SHAI (Smart Hospital AI Operations Platform) | Supervisor: Mr. Anton Jayakody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Backup: detailed evidence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5577840" cy="44805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Helvetica"/>
              </a:defRPr>
            </a:pPr>
            <a:r>
              <a:t>Financial Sensitivity &amp; Model Auditing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1. </a:t>
            </a:r>
            <a:r>
              <a:rPr sz="1200" b="1">
                <a:solidFill>
                  <a:srgbClr val="1E293B"/>
                </a:solidFill>
                <a:latin typeface="Helvetica"/>
              </a:rPr>
              <a:t>Decision-Theoretic Sensitivity: </a:t>
            </a:r>
            <a:r>
              <a:rPr sz="1150">
                <a:solidFill>
                  <a:srgbClr val="1E293B"/>
                </a:solidFill>
                <a:latin typeface="Arial"/>
              </a:rPr>
              <a:t>Evaluated net economic benefit across Rajasuriya 95% CI recall bounds (17% to 38%) and contact shares (10% to 30%).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2. </a:t>
            </a:r>
            <a:r>
              <a:rPr sz="1200" b="1">
                <a:solidFill>
                  <a:srgbClr val="1E293B"/>
                </a:solidFill>
                <a:latin typeface="Helvetica"/>
              </a:rPr>
              <a:t>Break-Even Consultation Fee: </a:t>
            </a:r>
            <a:r>
              <a:rPr sz="1150">
                <a:solidFill>
                  <a:srgbClr val="1E293B"/>
                </a:solidFill>
                <a:latin typeface="Arial"/>
              </a:rPr>
              <a:t>System breaks even at LKR 3,961 average fee; private specialist rates (LKR 4,500+) generate positive 1.14x ROI.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3. </a:t>
            </a:r>
            <a:r>
              <a:rPr sz="1200" b="1">
                <a:solidFill>
                  <a:srgbClr val="1E293B"/>
                </a:solidFill>
                <a:latin typeface="Helvetica"/>
              </a:rPr>
              <a:t>Sourced Contact Cost (LKR 5.38): </a:t>
            </a:r>
            <a:r>
              <a:rPr sz="1150">
                <a:solidFill>
                  <a:srgbClr val="1E293B"/>
                </a:solidFill>
                <a:latin typeface="Arial"/>
              </a:rPr>
              <a:t>Transparently derived: LKR 1.00 SMS + 25% escalation to 3.5-min receptionist calls @ LKR 300/hour.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4. </a:t>
            </a:r>
            <a:r>
              <a:rPr sz="1200" b="1">
                <a:solidFill>
                  <a:srgbClr val="1E293B"/>
                </a:solidFill>
                <a:latin typeface="Helvetica"/>
              </a:rPr>
              <a:t>Subgroup Fairness Verification: </a:t>
            </a:r>
            <a:r>
              <a:rPr sz="1150">
                <a:solidFill>
                  <a:srgbClr val="1E293B"/>
                </a:solidFill>
                <a:latin typeface="Arial"/>
              </a:rPr>
              <a:t>Audits confirm demographic parity across gender (F 0.674 vs M 0.671 AUC) and transit distance strata.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5. </a:t>
            </a:r>
            <a:r>
              <a:rPr sz="1200" b="1">
                <a:solidFill>
                  <a:srgbClr val="1E293B"/>
                </a:solidFill>
                <a:latin typeface="Helvetica"/>
              </a:rPr>
              <a:t>Scientific Hold-Out Control Arm: </a:t>
            </a:r>
            <a:r>
              <a:rPr sz="1150">
                <a:solidFill>
                  <a:srgbClr val="1E293B"/>
                </a:solidFill>
                <a:latin typeface="Arial"/>
              </a:rPr>
              <a:t>SHA-256 deterministic hash creates uncontacted control arm for prospective intention-to-treat (ITT) trials.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4846320" cy="4206240"/>
          </a:xfrm>
          <a:prstGeom prst="roundRect">
            <a:avLst/>
          </a:prstGeom>
          <a:solidFill>
            <a:srgbClr val="FA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1110567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663440" cy="2914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Arial"/>
              </a:defRPr>
            </a:pPr>
            <a:r>
              <a:t>Evidence: Decision-Theoretic Sensitivity Matrix &amp; Platform Cost Breakdown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Backup: contribution and reproducibility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Engineering Effort &amp; Libraries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Personal Engineering Contribution: </a:t>
            </a:r>
            <a:r>
              <a:rPr sz="1200">
                <a:solidFill>
                  <a:srgbClr val="1E293B"/>
                </a:solidFill>
                <a:latin typeface="Arial"/>
              </a:rPr>
              <a:t>Personally designed and implemented full-stack Next.js/FastAPI platform, Poisson-binomial convolution, ask-first state machine, and calibration pipeline.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Reused External Resources: </a:t>
            </a:r>
            <a:r>
              <a:rPr sz="1200">
                <a:solidFill>
                  <a:srgbClr val="1E293B"/>
                </a:solidFill>
                <a:latin typeface="Arial"/>
              </a:rPr>
              <a:t>XGBoost, scikit-learn, TreeSHAP, PostgreSQL 16, OSRM routing, Google Gemini API, and React/Tailwind frontend libraries.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293B"/>
                </a:solidFill>
                <a:latin typeface="Helvetica"/>
              </a:defRPr>
            </a:pPr>
            <a:r>
              <a:t>Artifact Reproducibility &amp; Codebase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Code &amp; Model Bundle Location: </a:t>
            </a:r>
            <a:r>
              <a:rPr sz="1200">
                <a:solidFill>
                  <a:srgbClr val="1E293B"/>
                </a:solidFill>
                <a:latin typeface="Arial"/>
              </a:rPr>
              <a:t>Full codebase tracked in Git repository; native JSON model bundles stored in models/shai_bundle/ (cross-version compatible).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Automated Test Verification: </a:t>
            </a:r>
            <a:r>
              <a:rPr sz="1200">
                <a:solidFill>
                  <a:srgbClr val="1E293B"/>
                </a:solidFill>
                <a:latin typeface="Arial"/>
              </a:rPr>
              <a:t>Full backend test suite (233 passed) and frontend test suite (31 passed) executable via pytest and vitest.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• </a:t>
            </a:r>
            <a:r>
              <a:rPr sz="1250" b="1">
                <a:solidFill>
                  <a:srgbClr val="1E293B"/>
                </a:solidFill>
                <a:latin typeface="Helvetica"/>
              </a:rPr>
              <a:t>Database Migration Reproducibility: </a:t>
            </a:r>
            <a:r>
              <a:rPr sz="1200">
                <a:solidFill>
                  <a:srgbClr val="1E293B"/>
                </a:solidFill>
                <a:latin typeface="Arial"/>
              </a:rPr>
              <a:t>PostgreSQL schema fully reproducible via Alembic head migration c9d0e1f2a3b4 across 32 relational tables.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SHAI: Outpatient AI Operations &amp; Capacity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63640"/>
            <a:ext cx="914400" cy="36576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6D28D9"/>
                </a:solidFill>
                <a:latin typeface="Helvetica"/>
              </a:defRPr>
            </a:pPr>
            <a:r>
              <a:t>Backup: clinical governance and privacy</a:t>
            </a:r>
          </a:p>
        </p:txBody>
      </p:sp>
      <p:pic>
        <p:nvPicPr>
          <p:cNvPr id="5" name="Picture 4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292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5577840" cy="44805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Helvetica"/>
              </a:defRPr>
            </a:pPr>
            <a:r>
              <a:t>Clinical Safeguards &amp; Ethics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1. </a:t>
            </a:r>
            <a:r>
              <a:rPr sz="1200" b="1">
                <a:solidFill>
                  <a:srgbClr val="1E293B"/>
                </a:solidFill>
                <a:latin typeface="Helvetica"/>
              </a:rPr>
              <a:t>Specialty Privacy Masking: </a:t>
            </a:r>
            <a:r>
              <a:rPr sz="1150">
                <a:solidFill>
                  <a:srgbClr val="1E293B"/>
                </a:solidFill>
                <a:latin typeface="Arial"/>
              </a:rPr>
              <a:t>Psychiatry, psychology, and mental health clinical specialties are masked to neutral 'clinic' descriptors in patient messages.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2. </a:t>
            </a:r>
            <a:r>
              <a:rPr sz="1200" b="1">
                <a:solidFill>
                  <a:srgbClr val="1E293B"/>
                </a:solidFill>
                <a:latin typeface="Helvetica"/>
              </a:rPr>
              <a:t>PHI Prompt Sanitization: </a:t>
            </a:r>
            <a:r>
              <a:rPr sz="1150">
                <a:solidFill>
                  <a:srgbClr val="1E293B"/>
                </a:solidFill>
                <a:latin typeface="Arial"/>
              </a:rPr>
              <a:t>National Identity Card (NIC), telephone numbers, and addresses never leave the server; placeholders populated locally.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3. </a:t>
            </a:r>
            <a:r>
              <a:rPr sz="1200" b="1">
                <a:solidFill>
                  <a:srgbClr val="1E293B"/>
                </a:solidFill>
                <a:latin typeface="Helvetica"/>
              </a:rPr>
              <a:t>Human-in-the-Loop Barrier: </a:t>
            </a:r>
            <a:r>
              <a:rPr sz="1150">
                <a:solidFill>
                  <a:srgbClr val="1E293B"/>
                </a:solidFill>
                <a:latin typeface="Arial"/>
              </a:rPr>
              <a:t>Conversations halt at 'pending_approval' state; authorized staff must confirm bookings before database persistence.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4. </a:t>
            </a:r>
            <a:r>
              <a:rPr sz="1200" b="1">
                <a:solidFill>
                  <a:srgbClr val="1E293B"/>
                </a:solidFill>
                <a:latin typeface="Helvetica"/>
              </a:rPr>
              <a:t>Telehealth Clinical Guardrail: </a:t>
            </a:r>
            <a:r>
              <a:rPr sz="1150">
                <a:solidFill>
                  <a:srgbClr val="1E293B"/>
                </a:solidFill>
                <a:latin typeface="Arial"/>
              </a:rPr>
              <a:t>Virtual video consultations offered only when doctor's department explicitly authorizes it (telehealth_ok).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Helvetica"/>
              </a:rPr>
              <a:t>5. </a:t>
            </a:r>
            <a:r>
              <a:rPr sz="1200" b="1">
                <a:solidFill>
                  <a:srgbClr val="1E293B"/>
                </a:solidFill>
                <a:latin typeface="Helvetica"/>
              </a:rPr>
              <a:t>Role-Based Access Control: </a:t>
            </a:r>
            <a:r>
              <a:rPr sz="1150">
                <a:solidFill>
                  <a:srgbClr val="1E293B"/>
                </a:solidFill>
                <a:latin typeface="Arial"/>
              </a:rPr>
              <a:t>PostgreSQL authentication enforces role gating across front_desk, analyst, manager, and administrator tiers.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4846320" cy="4206240"/>
          </a:xfrm>
          <a:prstGeom prst="roundRect">
            <a:avLst/>
          </a:prstGeom>
          <a:solidFill>
            <a:srgbClr val="FA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1110368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663440" cy="2914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Arial"/>
              </a:defRPr>
            </a:pPr>
            <a:r>
              <a:t>Evidence: Outreach Hub WhatsApp Chat Halting at Staff Approval Barrier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