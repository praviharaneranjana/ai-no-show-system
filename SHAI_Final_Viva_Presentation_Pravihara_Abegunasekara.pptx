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ai-word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2834640" cy="7936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01168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D28D9"/>
                </a:solidFill>
                <a:latin typeface="Arial"/>
              </a:defRPr>
            </a:pPr>
            <a:r>
              <a:t>FINAL YEAR RESEARCH PROJECT · ORAL DEFENSE (VIVA VOCE)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  <a:defRPr sz="2400" b="1">
                <a:solidFill>
                  <a:srgbClr val="111827"/>
                </a:solidFill>
                <a:latin typeface="Helvetica"/>
              </a:defRPr>
            </a:pPr>
            <a:r>
              <a:t>SHAI: An Explainable Machine Learning &amp; Deterministic Operations Platform for Outpatient No-Show Prediction and Autonomous Rescheduling</a:t>
            </a:r>
          </a:p>
          <a:p>
            <a:pPr algn="ctr">
              <a:defRPr sz="1300">
                <a:solidFill>
                  <a:srgbClr val="6B7280"/>
                </a:solidFill>
                <a:latin typeface="Arial"/>
              </a:defRPr>
            </a:pPr>
            <a:r>
              <a:t>Operational Capacity Optimization in Sri Lankan Private Tertiary Healthcare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297680"/>
            <a:ext cx="7616952" cy="1737360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4389120"/>
            <a:ext cx="725119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1">
                <a:solidFill>
                  <a:srgbClr val="6D28D9"/>
                </a:solidFill>
                <a:latin typeface="Helvetica"/>
              </a:rPr>
              <a:t>Candidate: </a:t>
            </a:r>
            <a:r>
              <a:rPr sz="1100">
                <a:solidFill>
                  <a:srgbClr val="111827"/>
                </a:solidFill>
                <a:latin typeface="Arial"/>
              </a:rPr>
              <a:t>Pravihara Neranjana Abegunasekara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6D28D9"/>
                </a:solidFill>
                <a:latin typeface="Helvetica"/>
              </a:rPr>
              <a:t>Degree: </a:t>
            </a:r>
            <a:r>
              <a:rPr sz="1100">
                <a:solidFill>
                  <a:srgbClr val="111827"/>
                </a:solidFill>
                <a:latin typeface="Arial"/>
              </a:rPr>
              <a:t>B.Sc. (Honours) in Software Engineering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6D28D9"/>
                </a:solidFill>
                <a:latin typeface="Helvetica"/>
              </a:rPr>
              <a:t>Institution: </a:t>
            </a:r>
            <a:r>
              <a:rPr sz="1100">
                <a:solidFill>
                  <a:srgbClr val="111827"/>
                </a:solidFill>
                <a:latin typeface="Arial"/>
              </a:rPr>
              <a:t>Faculty of Computing · NSBM Green University, Sri Lanka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6D28D9"/>
                </a:solidFill>
                <a:latin typeface="Helvetica"/>
              </a:rPr>
              <a:t>Supervisor: </a:t>
            </a:r>
            <a:r>
              <a:rPr sz="1100">
                <a:solidFill>
                  <a:srgbClr val="111827"/>
                </a:solidFill>
                <a:latin typeface="Arial"/>
              </a:rPr>
              <a:t>Mr. Anton Jayakody (Senior Lecturer)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6D28D9"/>
                </a:solidFill>
                <a:latin typeface="Helvetica"/>
              </a:rPr>
              <a:t>Evaluation: </a:t>
            </a:r>
            <a:r>
              <a:rPr sz="1100">
                <a:solidFill>
                  <a:srgbClr val="111827"/>
                </a:solidFill>
                <a:latin typeface="Arial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D28D9"/>
                </a:solidFill>
                <a:latin typeface="Arial"/>
              </a:defRPr>
            </a:pPr>
            <a:r>
              <a:t>RESEARCH CONTEXT &amp;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11827"/>
                </a:solidFill>
                <a:latin typeface="Helvetica"/>
              </a:defRPr>
            </a:pPr>
            <a:r>
              <a:t>Outpatient Absenteeism &amp; Clinical Capacity Wastage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44200" y="502920"/>
            <a:ext cx="713232" cy="411480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D28D9"/>
                </a:solidFill>
                <a:latin typeface="Helvetica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rial"/>
              </a:defRPr>
            </a:pPr>
            <a:r>
              <a:t>SHAI: Outpatient AI Operations &amp; Capacity Optimization | NSBM Green University</a:t>
            </a:r>
          </a:p>
        </p:txBody>
      </p:sp>
      <p:pic>
        <p:nvPicPr>
          <p:cNvPr id="8" name="Picture 7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481328"/>
            <a:ext cx="589788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1. </a:t>
            </a:r>
            <a:r>
              <a:rPr sz="1250" b="1">
                <a:solidFill>
                  <a:srgbClr val="111827"/>
                </a:solidFill>
                <a:latin typeface="Helvetica"/>
              </a:rPr>
              <a:t>Severe Ambulatory Absenteeism: </a:t>
            </a:r>
            <a:r>
              <a:rPr sz="1150">
                <a:solidFill>
                  <a:srgbClr val="111827"/>
                </a:solidFill>
                <a:latin typeface="Arial"/>
              </a:rPr>
              <a:t>Outpatient no-show rates range from 15% to over 30% globally, causing acute clinic schedule fragmentation.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2. </a:t>
            </a:r>
            <a:r>
              <a:rPr sz="1250" b="1">
                <a:solidFill>
                  <a:srgbClr val="111827"/>
                </a:solidFill>
                <a:latin typeface="Helvetica"/>
              </a:rPr>
              <a:t>Sri Lankan Specialist Channelling: </a:t>
            </a:r>
            <a:r>
              <a:rPr sz="1150">
                <a:solidFill>
                  <a:srgbClr val="111827"/>
                </a:solidFill>
                <a:latin typeface="Arial"/>
              </a:rPr>
              <a:t>Consultant doctors operate within rigid evening time windows; unannounced misses leave specialist faculty idle with zero recovery.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3. </a:t>
            </a:r>
            <a:r>
              <a:rPr sz="1250" b="1">
                <a:solidFill>
                  <a:srgbClr val="111827"/>
                </a:solidFill>
                <a:latin typeface="Helvetica"/>
              </a:rPr>
              <a:t>Direct Revenue &amp; Operational Attrition: </a:t>
            </a:r>
            <a:r>
              <a:rPr sz="1150">
                <a:solidFill>
                  <a:srgbClr val="111827"/>
                </a:solidFill>
                <a:latin typeface="Arial"/>
              </a:rPr>
              <a:t>Private tertiary hospital consultation fees (LKR 2,000–4,700) represent irrecoverable clinical revenue losses per vacant slot.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4. </a:t>
            </a:r>
            <a:r>
              <a:rPr sz="1250" b="1">
                <a:solidFill>
                  <a:srgbClr val="111827"/>
                </a:solidFill>
                <a:latin typeface="Helvetica"/>
              </a:rPr>
              <a:t>Deficit of Modern HIS Solutions: </a:t>
            </a:r>
            <a:r>
              <a:rPr sz="1150">
                <a:solidFill>
                  <a:srgbClr val="111827"/>
                </a:solidFill>
                <a:latin typeface="Arial"/>
              </a:rPr>
              <a:t>Existing Hospital Information Systems treat bookings as static administrative entries without probabilistic risk intelligence.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5. </a:t>
            </a:r>
            <a:r>
              <a:rPr sz="1250" b="1">
                <a:solidFill>
                  <a:srgbClr val="111827"/>
                </a:solidFill>
                <a:latin typeface="Helvetica"/>
              </a:rPr>
              <a:t>Failure of Static Communication: </a:t>
            </a:r>
            <a:r>
              <a:rPr sz="1150">
                <a:solidFill>
                  <a:srgbClr val="111827"/>
                </a:solidFill>
                <a:latin typeface="Arial"/>
              </a:rPr>
              <a:t>Generic one-way broadcast SMS reminders lack dynamic rescheduling mechanisms, converting misses into late unfilled vacancies.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481328"/>
            <a:ext cx="4599432" cy="4434840"/>
          </a:xfrm>
          <a:prstGeom prst="roundRect">
            <a:avLst/>
          </a:prstGeom>
          <a:solidFill>
            <a:srgbClr val="F9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edia_17911109337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591056"/>
            <a:ext cx="4379976" cy="2737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0" y="5980176"/>
            <a:ext cx="4599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B7280"/>
                </a:solidFill>
                <a:latin typeface="Arial"/>
              </a:defRPr>
            </a:pPr>
            <a:r>
              <a:t>Empirical Evidence: Live Hospital Master Schedule with Absenteeism Concentration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D28D9"/>
                </a:solidFill>
                <a:latin typeface="Arial"/>
              </a:defRPr>
            </a:pPr>
            <a:r>
              <a:t>RESEARCH AIM &amp; SPECIFIC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11827"/>
                </a:solidFill>
                <a:latin typeface="Helvetica"/>
              </a:defRPr>
            </a:pPr>
            <a:r>
              <a:t>Bridging Machine Learning to Hospital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44200" y="502920"/>
            <a:ext cx="713232" cy="411480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D28D9"/>
                </a:solidFill>
                <a:latin typeface="Helvetica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rial"/>
              </a:defRPr>
            </a:pPr>
            <a:r>
              <a:t>SHAI: Outpatient AI Operations &amp; Capacity Optimization | NSBM Green University</a:t>
            </a:r>
          </a:p>
        </p:txBody>
      </p:sp>
      <p:pic>
        <p:nvPicPr>
          <p:cNvPr id="8" name="Picture 7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481328"/>
            <a:ext cx="589788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1. </a:t>
            </a:r>
            <a:r>
              <a:rPr sz="1250" b="1">
                <a:solidFill>
                  <a:srgbClr val="111827"/>
                </a:solidFill>
                <a:latin typeface="Helvetica"/>
              </a:rPr>
              <a:t>Calibrated Predictive Modeling: </a:t>
            </a:r>
            <a:r>
              <a:rPr sz="1150">
                <a:solidFill>
                  <a:srgbClr val="111827"/>
                </a:solidFill>
                <a:latin typeface="Arial"/>
              </a:rPr>
              <a:t>Train gradient boosted decision trees (XGBoost) and calibrate output probabilities via isotonic regression to match empirical outcomes.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2. </a:t>
            </a:r>
            <a:r>
              <a:rPr sz="1250" b="1">
                <a:solidFill>
                  <a:srgbClr val="111827"/>
                </a:solidFill>
                <a:latin typeface="Helvetica"/>
              </a:rPr>
              <a:t>Clinical Interpretability (XAI): </a:t>
            </a:r>
            <a:r>
              <a:rPr sz="1150">
                <a:solidFill>
                  <a:srgbClr val="111827"/>
                </a:solidFill>
                <a:latin typeface="Arial"/>
              </a:rPr>
              <a:t>Deploy TreeSHAP to provide exact, patient-specific feature attributions in log-odds space, replacing opaque black-box predictions.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3. </a:t>
            </a:r>
            <a:r>
              <a:rPr sz="1250" b="1">
                <a:solidFill>
                  <a:srgbClr val="111827"/>
                </a:solidFill>
                <a:latin typeface="Helvetica"/>
              </a:rPr>
              <a:t>Exact Queue Overbooking Engine: </a:t>
            </a:r>
            <a:r>
              <a:rPr sz="1150">
                <a:solidFill>
                  <a:srgbClr val="111827"/>
                </a:solidFill>
                <a:latin typeface="Arial"/>
              </a:rPr>
              <a:t>Formulate exact Poisson-binomial dynamic programming convolution to optimize clinic overbooking against doctor overtime penalties.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4. </a:t>
            </a:r>
            <a:r>
              <a:rPr sz="1250" b="1">
                <a:solidFill>
                  <a:srgbClr val="111827"/>
                </a:solidFill>
                <a:latin typeface="Helvetica"/>
              </a:rPr>
              <a:t>Trilingual Autonomous Rescheduling: </a:t>
            </a:r>
            <a:r>
              <a:rPr sz="1150">
                <a:solidFill>
                  <a:srgbClr val="111827"/>
                </a:solidFill>
                <a:latin typeface="Arial"/>
              </a:rPr>
              <a:t>Implement a deterministic conversational state machine with human-in-the-loop staff approval operating in English, Sinhala, and Tamil.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5. </a:t>
            </a:r>
            <a:r>
              <a:rPr sz="1250" b="1">
                <a:solidFill>
                  <a:srgbClr val="111827"/>
                </a:solidFill>
                <a:latin typeface="Helvetica"/>
              </a:rPr>
              <a:t>Empirical Economic Accountability: </a:t>
            </a:r>
            <a:r>
              <a:rPr sz="1150">
                <a:solidFill>
                  <a:srgbClr val="111827"/>
                </a:solidFill>
                <a:latin typeface="Arial"/>
              </a:rPr>
              <a:t>Evaluate decision-theoretic ROI by grounding contact costs (LKR 5.38) and clinical recall boundaries in Sri Lankan empirical literature.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481328"/>
            <a:ext cx="4599432" cy="4434840"/>
          </a:xfrm>
          <a:prstGeom prst="roundRect">
            <a:avLst/>
          </a:prstGeom>
          <a:solidFill>
            <a:srgbClr val="F9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edia_17911110207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591056"/>
            <a:ext cx="4379976" cy="2737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0" y="5980176"/>
            <a:ext cx="4599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B7280"/>
                </a:solidFill>
                <a:latin typeface="Arial"/>
              </a:defRPr>
            </a:pPr>
            <a:r>
              <a:t>Empirical Evidence: End-to-End Operational Architecture &amp; Workflow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D28D9"/>
                </a:solidFill>
                <a:latin typeface="Arial"/>
              </a:defRPr>
            </a:pPr>
            <a:r>
              <a:t>DATA COLLECTION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11827"/>
                </a:solidFill>
                <a:latin typeface="Helvetica"/>
              </a:defRPr>
            </a:pPr>
            <a:r>
              <a:t>Modeling Localized Healthcare &amp; Environmental Drivers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44200" y="502920"/>
            <a:ext cx="713232" cy="411480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D28D9"/>
                </a:solidFill>
                <a:latin typeface="Helvetica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rial"/>
              </a:defRPr>
            </a:pPr>
            <a:r>
              <a:t>SHAI: Outpatient AI Operations &amp; Capacity Optimization | NSBM Green University</a:t>
            </a:r>
          </a:p>
        </p:txBody>
      </p:sp>
      <p:pic>
        <p:nvPicPr>
          <p:cNvPr id="8" name="Picture 7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481328"/>
            <a:ext cx="589788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1. </a:t>
            </a:r>
            <a:r>
              <a:rPr sz="1250" b="1">
                <a:solidFill>
                  <a:srgbClr val="111827"/>
                </a:solidFill>
                <a:latin typeface="Helvetica"/>
              </a:rPr>
              <a:t>Healthcare Tabular Dataset: </a:t>
            </a:r>
            <a:r>
              <a:rPr sz="1150">
                <a:solidFill>
                  <a:srgbClr val="111827"/>
                </a:solidFill>
                <a:latin typeface="Arial"/>
              </a:rPr>
              <a:t>Generated 64,444 multi-specialty appointments across 16 clinical departments modeled on Asiri Central Hospital, Colombo.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2. </a:t>
            </a:r>
            <a:r>
              <a:rPr sz="1250" b="1">
                <a:solidFill>
                  <a:srgbClr val="111827"/>
                </a:solidFill>
                <a:latin typeface="Helvetica"/>
              </a:rPr>
              <a:t>Chronological Data Partitioning: </a:t>
            </a:r>
            <a:r>
              <a:rPr sz="1150">
                <a:solidFill>
                  <a:srgbClr val="111827"/>
                </a:solidFill>
                <a:latin typeface="Arial"/>
              </a:rPr>
              <a:t>Enforced strict temporal split (42,693 train / 12,366 val / 9,385 test) to eliminate prospective temporal data leakage.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3. </a:t>
            </a:r>
            <a:r>
              <a:rPr sz="1250" b="1">
                <a:solidFill>
                  <a:srgbClr val="111827"/>
                </a:solidFill>
                <a:latin typeface="Helvetica"/>
              </a:rPr>
              <a:t>Channelling Multi-Channel Dynamics: </a:t>
            </a:r>
            <a:r>
              <a:rPr sz="1150">
                <a:solidFill>
                  <a:srgbClr val="111827"/>
                </a:solidFill>
                <a:latin typeface="Arial"/>
              </a:rPr>
              <a:t>Engineered attributes capturing physical walk-in counter bookings, telecommunication portals (Doc990), and hospital mobile apps.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4. </a:t>
            </a:r>
            <a:r>
              <a:rPr sz="1250" b="1">
                <a:solidFill>
                  <a:srgbClr val="111827"/>
                </a:solidFill>
                <a:latin typeface="Helvetica"/>
              </a:rPr>
              <a:t>Geospatial &amp; Transit Routing: </a:t>
            </a:r>
            <a:r>
              <a:rPr sz="1150">
                <a:solidFill>
                  <a:srgbClr val="111827"/>
                </a:solidFill>
                <a:latin typeface="Arial"/>
              </a:rPr>
              <a:t>Integrated 16,450 Sri Lankan locality records to calculate road transit network distances and commute times via OSRM GIS routing.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5. </a:t>
            </a:r>
            <a:r>
              <a:rPr sz="1250" b="1">
                <a:solidFill>
                  <a:srgbClr val="111827"/>
                </a:solidFill>
                <a:latin typeface="Helvetica"/>
              </a:rPr>
              <a:t>Localized Environmental Shocks: </a:t>
            </a:r>
            <a:r>
              <a:rPr sz="1150">
                <a:solidFill>
                  <a:srgbClr val="111827"/>
                </a:solidFill>
                <a:latin typeface="Arial"/>
              </a:rPr>
              <a:t>Modeled monsoon precipitation friction and religious Full Moon Poya holiday disruptions observed in local healthcare.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481328"/>
            <a:ext cx="4599432" cy="4434840"/>
          </a:xfrm>
          <a:prstGeom prst="roundRect">
            <a:avLst/>
          </a:prstGeom>
          <a:solidFill>
            <a:srgbClr val="F9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edia_17911115173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591056"/>
            <a:ext cx="4379976" cy="2027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0" y="5980176"/>
            <a:ext cx="4599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B7280"/>
                </a:solidFill>
                <a:latin typeface="Arial"/>
              </a:defRPr>
            </a:pPr>
            <a:r>
              <a:t>Empirical Evidence: Empirical Absenteeism Across Lead Time, Channels &amp; Weather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D28D9"/>
                </a:solidFill>
                <a:latin typeface="Arial"/>
              </a:defRPr>
            </a:pPr>
            <a:r>
              <a:t>MACHINE LEARNING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11827"/>
                </a:solidFill>
                <a:latin typeface="Helvetica"/>
              </a:defRPr>
            </a:pPr>
            <a:r>
              <a:t>Rigorous Discrimination &amp; Isotonic Probability Calibration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44200" y="502920"/>
            <a:ext cx="713232" cy="411480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D28D9"/>
                </a:solidFill>
                <a:latin typeface="Helvetica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rial"/>
              </a:defRPr>
            </a:pPr>
            <a:r>
              <a:t>SHAI: Outpatient AI Operations &amp; Capacity Optimization | NSBM Green University</a:t>
            </a:r>
          </a:p>
        </p:txBody>
      </p:sp>
      <p:pic>
        <p:nvPicPr>
          <p:cNvPr id="8" name="Picture 7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481328"/>
            <a:ext cx="589788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1. </a:t>
            </a:r>
            <a:r>
              <a:rPr sz="1250" b="1">
                <a:solidFill>
                  <a:srgbClr val="111827"/>
                </a:solidFill>
                <a:latin typeface="Helvetica"/>
              </a:rPr>
              <a:t>Multi-Model Comparative Evaluation: </a:t>
            </a:r>
            <a:r>
              <a:rPr sz="1150">
                <a:solidFill>
                  <a:srgbClr val="111827"/>
                </a:solidFill>
                <a:latin typeface="Arial"/>
              </a:rPr>
              <a:t>Tuned XGBoost outperformed Logistic Regression (0.662), Decision Trees (0.641), and Random Forests (0.666).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t>2. Superior Discriminatory Power: Achieved an out-of-sample ROC-AUC of 0.672 (95% CI: [0.658, 0.686]) and PR-AUC of 0.266 under prospective chronological evaluation.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3. </a:t>
            </a:r>
            <a:r>
              <a:rPr sz="1250" b="1">
                <a:solidFill>
                  <a:srgbClr val="111827"/>
                </a:solidFill>
                <a:latin typeface="Helvetica"/>
              </a:rPr>
              <a:t>Real-World Benchmark Validation: </a:t>
            </a:r>
            <a:r>
              <a:rPr sz="1150">
                <a:solidFill>
                  <a:srgbClr val="111827"/>
                </a:solidFill>
                <a:latin typeface="Arial"/>
              </a:rPr>
              <a:t>Validated on the real-world Kaggle medical appointment benchmark (N=110,527), achieving 0.736 ROC-AUC and 1.904x lift.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t>4. Isotonic Probability Calibration: Post-processing isotonic regression reduced Brier score to 0.1237, perfectly aligning predicted risk with observed attendance frequencies.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t>5. Substantial Operational Lift: Top 20% risk tier captured 36.3% of empirical no-shows, delivering a 1.82x targeting lift over random hospital outreach.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481328"/>
            <a:ext cx="4599432" cy="4434840"/>
          </a:xfrm>
          <a:prstGeom prst="roundRect">
            <a:avLst/>
          </a:prstGeom>
          <a:solidFill>
            <a:srgbClr val="F9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edia_17911114861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591056"/>
            <a:ext cx="4379976" cy="35147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0" y="5980176"/>
            <a:ext cx="4599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B7280"/>
                </a:solidFill>
                <a:latin typeface="Arial"/>
              </a:defRPr>
            </a:pPr>
            <a:r>
              <a:t>Empirical Evidence: Out-of-Sample Reliability Diagram (Calibrated Predicted vs Observed)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D28D9"/>
                </a:solidFill>
                <a:latin typeface="Arial"/>
              </a:defRPr>
            </a:pPr>
            <a:r>
              <a:t>CLINICAL EXPLAINABILITY &amp;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11827"/>
                </a:solidFill>
                <a:latin typeface="Helvetica"/>
              </a:defRPr>
            </a:pPr>
            <a:r>
              <a:t>TreeSHAP Attributions &amp; Heuristic Action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44200" y="502920"/>
            <a:ext cx="713232" cy="411480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D28D9"/>
                </a:solidFill>
                <a:latin typeface="Helvetica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rial"/>
              </a:defRPr>
            </a:pPr>
            <a:r>
              <a:t>SHAI: Outpatient AI Operations &amp; Capacity Optimization | NSBM Green University</a:t>
            </a:r>
          </a:p>
        </p:txBody>
      </p:sp>
      <p:pic>
        <p:nvPicPr>
          <p:cNvPr id="8" name="Picture 7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481328"/>
            <a:ext cx="589788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1. </a:t>
            </a:r>
            <a:r>
              <a:rPr sz="1250" b="1">
                <a:solidFill>
                  <a:srgbClr val="111827"/>
                </a:solidFill>
                <a:latin typeface="Helvetica"/>
              </a:rPr>
              <a:t>Game-Theoretic TreeSHAP Engine: </a:t>
            </a:r>
            <a:r>
              <a:rPr sz="1150">
                <a:solidFill>
                  <a:srgbClr val="111827"/>
                </a:solidFill>
                <a:latin typeface="Arial"/>
              </a:rPr>
              <a:t>Computed exact local feature attributions in polynomial time O(TLD^2), decomposing individual risk into interpretable factors.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2. </a:t>
            </a:r>
            <a:r>
              <a:rPr sz="1250" b="1">
                <a:solidFill>
                  <a:srgbClr val="111827"/>
                </a:solidFill>
                <a:latin typeface="Helvetica"/>
              </a:rPr>
              <a:t>Dominant Systemic Risk Drivers: </a:t>
            </a:r>
            <a:r>
              <a:rPr sz="1150">
                <a:solidFill>
                  <a:srgbClr val="111827"/>
                </a:solidFill>
                <a:latin typeface="Arial"/>
              </a:rPr>
              <a:t>Booking lead time is the primary driver (|phi| = 0.300), followed by Bayesian prior non-attendance rate (|phi| = 0.182).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3. </a:t>
            </a:r>
            <a:r>
              <a:rPr sz="1250" b="1">
                <a:solidFill>
                  <a:srgbClr val="111827"/>
                </a:solidFill>
                <a:latin typeface="Helvetica"/>
              </a:rPr>
              <a:t>Empirical Hypothesis Testing: </a:t>
            </a:r>
            <a:r>
              <a:rPr sz="1150">
                <a:solidFill>
                  <a:srgbClr val="111827"/>
                </a:solidFill>
                <a:latin typeface="Arial"/>
              </a:rPr>
              <a:t>Lead days (OR 1.235, p&lt;0.001) and heavy rain (OR 1.153, p&lt;0.001) confirmed statistically as significant risk elevators.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4. </a:t>
            </a:r>
            <a:r>
              <a:rPr sz="1250" b="1">
                <a:solidFill>
                  <a:srgbClr val="111827"/>
                </a:solidFill>
                <a:latin typeface="Helvetica"/>
              </a:rPr>
              <a:t>Protective Commitment Mechanisms: </a:t>
            </a:r>
            <a:r>
              <a:rPr sz="1150">
                <a:solidFill>
                  <a:srgbClr val="111827"/>
                </a:solidFill>
                <a:latin typeface="Arial"/>
              </a:rPr>
              <a:t>Digital prepayment (Prepaid Online: OR 0.743, p&lt;0.001) and in-person counter bookings serve as strong protective commitments.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5. </a:t>
            </a:r>
            <a:r>
              <a:rPr sz="1250" b="1">
                <a:solidFill>
                  <a:srgbClr val="111827"/>
                </a:solidFill>
                <a:latin typeface="Helvetica"/>
              </a:rPr>
              <a:t>Transparent Heuristic Action Layer: </a:t>
            </a:r>
            <a:r>
              <a:rPr sz="1150">
                <a:solidFill>
                  <a:srgbClr val="111827"/>
                </a:solidFill>
                <a:latin typeface="Arial"/>
              </a:rPr>
              <a:t>Rule-based logic translates positive SHAP drivers into transparent clinical suggestions (phone call, SMS, slot shift, telehealth).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481328"/>
            <a:ext cx="4599432" cy="4434840"/>
          </a:xfrm>
          <a:prstGeom prst="roundRect">
            <a:avLst/>
          </a:prstGeom>
          <a:solidFill>
            <a:srgbClr val="F9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edia_17911114863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591056"/>
            <a:ext cx="4379976" cy="52116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0" y="5980176"/>
            <a:ext cx="4599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B7280"/>
                </a:solidFill>
                <a:latin typeface="Arial"/>
              </a:defRPr>
            </a:pPr>
            <a:r>
              <a:t>Empirical Evidence: Global TreeSHAP Summary Beeswarm Plot Across 42 Dimensions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D28D9"/>
                </a:solidFill>
                <a:latin typeface="Arial"/>
              </a:defRPr>
            </a:pPr>
            <a:r>
              <a:t>CAPACITY &amp; QUEUE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11827"/>
                </a:solidFill>
                <a:latin typeface="Helvetica"/>
              </a:defRPr>
            </a:pPr>
            <a:r>
              <a:t>Exact Poisson-Binomial Convolution Overbooking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44200" y="502920"/>
            <a:ext cx="713232" cy="411480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D28D9"/>
                </a:solidFill>
                <a:latin typeface="Helvetica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rial"/>
              </a:defRPr>
            </a:pPr>
            <a:r>
              <a:t>SHAI: Outpatient AI Operations &amp; Capacity Optimization | NSBM Green University</a:t>
            </a:r>
          </a:p>
        </p:txBody>
      </p:sp>
      <p:pic>
        <p:nvPicPr>
          <p:cNvPr id="8" name="Picture 7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481328"/>
            <a:ext cx="589788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1. </a:t>
            </a:r>
            <a:r>
              <a:rPr sz="1250" b="1">
                <a:solidFill>
                  <a:srgbClr val="111827"/>
                </a:solidFill>
                <a:latin typeface="Helvetica"/>
              </a:rPr>
              <a:t>Exact Dynamic Programming Convolution: </a:t>
            </a:r>
            <a:r>
              <a:rPr sz="1150">
                <a:solidFill>
                  <a:srgbClr val="111827"/>
                </a:solidFill>
                <a:latin typeface="Arial"/>
              </a:rPr>
              <a:t>Calculates arrival distribution N across heterogeneous probabilities q_i without Monte Carlo stochastic error.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2. </a:t>
            </a:r>
            <a:r>
              <a:rPr sz="1250" b="1">
                <a:solidFill>
                  <a:srgbClr val="111827"/>
                </a:solidFill>
                <a:latin typeface="Helvetica"/>
              </a:rPr>
              <a:t>Mathematical Net Value Optimization: </a:t>
            </a:r>
            <a:r>
              <a:rPr sz="1150">
                <a:solidFill>
                  <a:srgbClr val="111827"/>
                </a:solidFill>
                <a:latin typeface="Arial"/>
              </a:rPr>
              <a:t>Maximizes consultation fee revenue while penalizing doctor overtime and waiting penalties (Value = Fee*E[Seen] - Wait*E[Over]).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3. </a:t>
            </a:r>
            <a:r>
              <a:rPr sz="1250" b="1">
                <a:solidFill>
                  <a:srgbClr val="111827"/>
                </a:solidFill>
                <a:latin typeface="Helvetica"/>
              </a:rPr>
              <a:t>15-Minute Slot Overbooking Matrix: </a:t>
            </a:r>
            <a:r>
              <a:rPr sz="1150">
                <a:solidFill>
                  <a:srgbClr val="111827"/>
                </a:solidFill>
                <a:latin typeface="Arial"/>
              </a:rPr>
              <a:t>Color-coded schedule heatmap visualizes cumulative risk concentration across 11 consultant clinic sessions.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4. </a:t>
            </a:r>
            <a:r>
              <a:rPr sz="1250" b="1">
                <a:solidFill>
                  <a:srgbClr val="111827"/>
                </a:solidFill>
                <a:latin typeface="Helvetica"/>
              </a:rPr>
              <a:t>What-If Studio Dynamic Levers: </a:t>
            </a:r>
            <a:r>
              <a:rPr sz="1150">
                <a:solidFill>
                  <a:srgbClr val="111827"/>
                </a:solidFill>
                <a:latin typeface="Arial"/>
              </a:rPr>
              <a:t>Empirical optimization reveals session value peaks at 18–20 extra bookings before overtime penalties dominate.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5. </a:t>
            </a:r>
            <a:r>
              <a:rPr sz="1250" b="1">
                <a:solidFill>
                  <a:srgbClr val="111827"/>
                </a:solidFill>
                <a:latin typeface="Helvetica"/>
              </a:rPr>
              <a:t>Multi-Horizon Capacity Forecast: </a:t>
            </a:r>
            <a:r>
              <a:rPr sz="1150">
                <a:solidFill>
                  <a:srgbClr val="111827"/>
                </a:solidFill>
                <a:latin typeface="Arial"/>
              </a:rPr>
              <a:t>14-day operational forecasting projects 58 expected no-shows bounded by an exact 80% confidence interval [56, 60].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481328"/>
            <a:ext cx="4599432" cy="4434840"/>
          </a:xfrm>
          <a:prstGeom prst="roundRect">
            <a:avLst/>
          </a:prstGeom>
          <a:solidFill>
            <a:srgbClr val="F9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edia_17911109611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591056"/>
            <a:ext cx="4379976" cy="2737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0" y="5980176"/>
            <a:ext cx="4599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B7280"/>
                </a:solidFill>
                <a:latin typeface="Arial"/>
              </a:defRPr>
            </a:pPr>
            <a:r>
              <a:t>Empirical Evidence: What-If Studio Dynamic Overbooking Optimization Curve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D28D9"/>
                </a:solidFill>
                <a:latin typeface="Arial"/>
              </a:defRPr>
            </a:pPr>
            <a:r>
              <a:t>PATIENT ENGAGEMENT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11827"/>
                </a:solidFill>
                <a:latin typeface="Helvetica"/>
              </a:defRPr>
            </a:pPr>
            <a:r>
              <a:t>Deterministic Conversational Rescheduling &amp; Privacy Guards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44200" y="502920"/>
            <a:ext cx="713232" cy="411480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D28D9"/>
                </a:solidFill>
                <a:latin typeface="Helvetica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rial"/>
              </a:defRPr>
            </a:pPr>
            <a:r>
              <a:t>SHAI: Outpatient AI Operations &amp; Capacity Optimization | NSBM Green University</a:t>
            </a:r>
          </a:p>
        </p:txBody>
      </p:sp>
      <p:pic>
        <p:nvPicPr>
          <p:cNvPr id="8" name="Picture 7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481328"/>
            <a:ext cx="589788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1. </a:t>
            </a:r>
            <a:r>
              <a:rPr sz="1250" b="1">
                <a:solidFill>
                  <a:srgbClr val="111827"/>
                </a:solidFill>
                <a:latin typeface="Helvetica"/>
              </a:rPr>
              <a:t>Ask-First State Machine Dialogue: </a:t>
            </a:r>
            <a:r>
              <a:rPr sz="1150">
                <a:solidFill>
                  <a:srgbClr val="111827"/>
                </a:solidFill>
                <a:latin typeface="Arial"/>
              </a:rPr>
              <a:t>Proactively queries patient attendance confirmation before proposing slot changes, respecting patient agency.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2. </a:t>
            </a:r>
            <a:r>
              <a:rPr sz="1250" b="1">
                <a:solidFill>
                  <a:srgbClr val="111827"/>
                </a:solidFill>
                <a:latin typeface="Helvetica"/>
              </a:rPr>
              <a:t>28-Day Intra-Department Slot Search: </a:t>
            </a:r>
            <a:r>
              <a:rPr sz="1150">
                <a:solidFill>
                  <a:srgbClr val="111827"/>
                </a:solidFill>
                <a:latin typeface="Arial"/>
              </a:rPr>
              <a:t>Searches open clinic capacity, prioritizing same doctor first, followed by up to 3 departmental colleagues upon decline.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3. </a:t>
            </a:r>
            <a:r>
              <a:rPr sz="1250" b="1">
                <a:solidFill>
                  <a:srgbClr val="111827"/>
                </a:solidFill>
                <a:latin typeface="Helvetica"/>
              </a:rPr>
              <a:t>Localized Trilingual Fluency: </a:t>
            </a:r>
            <a:r>
              <a:rPr sz="1150">
                <a:solidFill>
                  <a:srgbClr val="111827"/>
                </a:solidFill>
                <a:latin typeface="Arial"/>
              </a:rPr>
              <a:t>Executes native-script conversational templates across English, Sinhala (සිංහල), and Tamil (தமிழ்) for messaging channels.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4. </a:t>
            </a:r>
            <a:r>
              <a:rPr sz="1250" b="1">
                <a:solidFill>
                  <a:srgbClr val="111827"/>
                </a:solidFill>
                <a:latin typeface="Helvetica"/>
              </a:rPr>
              <a:t>Strict Human-in-the-Loop Barrier: </a:t>
            </a:r>
            <a:r>
              <a:rPr sz="1150">
                <a:solidFill>
                  <a:srgbClr val="111827"/>
                </a:solidFill>
                <a:latin typeface="Arial"/>
              </a:rPr>
              <a:t>Conversations halt at 'pending_approval' state; authorized staff must confirm bookings before database persistence.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5. </a:t>
            </a:r>
            <a:r>
              <a:rPr sz="1250" b="1">
                <a:solidFill>
                  <a:srgbClr val="111827"/>
                </a:solidFill>
                <a:latin typeface="Helvetica"/>
              </a:rPr>
              <a:t>Clinical Safety &amp; Specialty Privacy: </a:t>
            </a:r>
            <a:r>
              <a:rPr sz="1150">
                <a:solidFill>
                  <a:srgbClr val="111827"/>
                </a:solidFill>
                <a:latin typeface="Arial"/>
              </a:rPr>
              <a:t>Sensitive psychiatric and mental health specialties masked to neutral 'clinic' descriptors to prevent shared-phone disclosure.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481328"/>
            <a:ext cx="4599432" cy="4434840"/>
          </a:xfrm>
          <a:prstGeom prst="roundRect">
            <a:avLst/>
          </a:prstGeom>
          <a:solidFill>
            <a:srgbClr val="F9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edia_17911110368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591056"/>
            <a:ext cx="4379976" cy="2737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0" y="5980176"/>
            <a:ext cx="4599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B7280"/>
                </a:solidFill>
                <a:latin typeface="Arial"/>
              </a:defRPr>
            </a:pPr>
            <a:r>
              <a:t>Empirical Evidence: Autonomous Outreach Hub WhatsApp Thread with Staff Approval Gate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D28D9"/>
                </a:solidFill>
                <a:latin typeface="Arial"/>
              </a:defRPr>
            </a:pPr>
            <a:r>
              <a:t>OPERATIONAL EVALUATION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11827"/>
                </a:solidFill>
                <a:latin typeface="Helvetica"/>
              </a:defRPr>
            </a:pPr>
            <a:r>
              <a:t>90-Day Database Replay &amp; Decision-Theoretic Economic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44200" y="502920"/>
            <a:ext cx="713232" cy="411480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D28D9"/>
                </a:solidFill>
                <a:latin typeface="Helvetica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rial"/>
              </a:defRPr>
            </a:pPr>
            <a:r>
              <a:t>SHAI: Outpatient AI Operations &amp; Capacity Optimization | NSBM Green University</a:t>
            </a:r>
          </a:p>
        </p:txBody>
      </p:sp>
      <p:pic>
        <p:nvPicPr>
          <p:cNvPr id="8" name="Picture 7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481328"/>
            <a:ext cx="589788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1. </a:t>
            </a:r>
            <a:r>
              <a:rPr sz="1250" b="1">
                <a:solidFill>
                  <a:srgbClr val="111827"/>
                </a:solidFill>
                <a:latin typeface="Helvetica"/>
              </a:rPr>
              <a:t>Historical 90-Day Database Replay: </a:t>
            </a:r>
            <a:r>
              <a:rPr sz="1150">
                <a:solidFill>
                  <a:srgbClr val="111827"/>
                </a:solidFill>
                <a:latin typeface="Arial"/>
              </a:rPr>
              <a:t>Replayed 9,266 recorded appointments; risk-ranked policy captured 47.4% of no-shows vs 27.4% under random contact.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2. </a:t>
            </a:r>
            <a:r>
              <a:rPr sz="1250" b="1">
                <a:solidFill>
                  <a:srgbClr val="111827"/>
                </a:solidFill>
                <a:latin typeface="Helvetica"/>
              </a:rPr>
              <a:t>Tangible Revenue Lift Over Random: </a:t>
            </a:r>
            <a:r>
              <a:rPr sz="1150">
                <a:solidFill>
                  <a:srgbClr val="111827"/>
                </a:solidFill>
                <a:latin typeface="Arial"/>
              </a:rPr>
              <a:t>Risk-ranking recovered an empirical +LKR 228,600 extra net revenue over random contact during the 90-day window.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3. </a:t>
            </a:r>
            <a:r>
              <a:rPr sz="1250" b="1">
                <a:solidFill>
                  <a:srgbClr val="111827"/>
                </a:solidFill>
                <a:latin typeface="Helvetica"/>
              </a:rPr>
              <a:t>Transparent Cost per Contact (LKR 5.38): </a:t>
            </a:r>
            <a:r>
              <a:rPr sz="1150">
                <a:solidFill>
                  <a:srgbClr val="111827"/>
                </a:solidFill>
                <a:latin typeface="Arial"/>
              </a:rPr>
              <a:t>Blended derived tariff: LKR 1.00 SMS + 25% escalation to 3.5-min receptionist telephone calls @ LKR 300/hr wage.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4. </a:t>
            </a:r>
            <a:r>
              <a:rPr sz="1250" b="1">
                <a:solidFill>
                  <a:srgbClr val="111827"/>
                </a:solidFill>
                <a:latin typeface="Helvetica"/>
              </a:rPr>
              <a:t>Decision-Theoretic Break-Even Analysis: </a:t>
            </a:r>
            <a:r>
              <a:rPr sz="1150">
                <a:solidFill>
                  <a:srgbClr val="111827"/>
                </a:solidFill>
                <a:latin typeface="Arial"/>
              </a:rPr>
              <a:t>System breaks even at LKR 3,961 consultation fee; delivers positive 1.14x ROI across private specialist rates (LKR 4,500).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5. </a:t>
            </a:r>
            <a:r>
              <a:rPr sz="1250" b="1">
                <a:solidFill>
                  <a:srgbClr val="111827"/>
                </a:solidFill>
                <a:latin typeface="Helvetica"/>
              </a:rPr>
              <a:t>Scientific Hold-Out Control Protocol: </a:t>
            </a:r>
            <a:r>
              <a:rPr sz="1150">
                <a:solidFill>
                  <a:srgbClr val="111827"/>
                </a:solidFill>
                <a:latin typeface="Arial"/>
              </a:rPr>
              <a:t>Engineered deterministic SHA-256 hold-out arm (holdout.py), enabling true randomized intention-to-treat (ITT) trials.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481328"/>
            <a:ext cx="4599432" cy="4434840"/>
          </a:xfrm>
          <a:prstGeom prst="roundRect">
            <a:avLst/>
          </a:prstGeom>
          <a:solidFill>
            <a:srgbClr val="F9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edia_17911110567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591056"/>
            <a:ext cx="4379976" cy="2737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0" y="5980176"/>
            <a:ext cx="4599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B7280"/>
                </a:solidFill>
                <a:latin typeface="Arial"/>
              </a:defRPr>
            </a:pPr>
            <a:r>
              <a:t>Empirical Evidence: Historical Replay Lift &amp; Multi-Dimensional Sensitivity Matrix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D28D9"/>
                </a:solidFill>
                <a:latin typeface="Arial"/>
              </a:defRPr>
            </a:pPr>
            <a:r>
              <a:t>CONTRIBUTIONS, LIMITATIONS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11827"/>
                </a:solidFill>
                <a:latin typeface="Helvetica"/>
              </a:defRPr>
            </a:pPr>
            <a:r>
              <a:t>Summary of Deliverables &amp; Academic Establishing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44200" y="502920"/>
            <a:ext cx="713232" cy="411480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D28D9"/>
                </a:solidFill>
                <a:latin typeface="Helvetica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rial"/>
              </a:defRPr>
            </a:pPr>
            <a:r>
              <a:t>SHAI: Outpatient AI Operations &amp; Capacity Optimization | NSBM Green University</a:t>
            </a:r>
          </a:p>
        </p:txBody>
      </p:sp>
      <p:pic>
        <p:nvPicPr>
          <p:cNvPr id="8" name="Picture 7" descr="shai-glyph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481328"/>
            <a:ext cx="589788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1. </a:t>
            </a:r>
            <a:r>
              <a:rPr sz="1250" b="1">
                <a:solidFill>
                  <a:srgbClr val="111827"/>
                </a:solidFill>
                <a:latin typeface="Helvetica"/>
              </a:rPr>
              <a:t>End-to-End Applied Decision System: </a:t>
            </a:r>
            <a:r>
              <a:rPr sz="1150">
                <a:solidFill>
                  <a:srgbClr val="111827"/>
                </a:solidFill>
                <a:latin typeface="Arial"/>
              </a:rPr>
              <a:t>Engineered an integrated clinical platform uniting calibrated prediction, local explainability, overbooking, and dialogue.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2. </a:t>
            </a:r>
            <a:r>
              <a:rPr sz="1250" b="1">
                <a:solidFill>
                  <a:srgbClr val="111827"/>
                </a:solidFill>
                <a:latin typeface="Helvetica"/>
              </a:rPr>
              <a:t>Subgroup Fairness &amp; Demographic Equity: </a:t>
            </a:r>
            <a:r>
              <a:rPr sz="1150">
                <a:solidFill>
                  <a:srgbClr val="111827"/>
                </a:solidFill>
                <a:latin typeface="Arial"/>
              </a:rPr>
              <a:t>Comprehensive audit confirmed identical performance across gender (AUC: F 0.674 vs M 0.671) and transit strata.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3. </a:t>
            </a:r>
            <a:r>
              <a:rPr sz="1250" b="1">
                <a:solidFill>
                  <a:srgbClr val="111827"/>
                </a:solidFill>
                <a:latin typeface="Helvetica"/>
              </a:rPr>
              <a:t>Enterprise Software Quality Assurance: </a:t>
            </a:r>
            <a:r>
              <a:rPr sz="1150">
                <a:solidFill>
                  <a:srgbClr val="111827"/>
                </a:solidFill>
                <a:latin typeface="Arial"/>
              </a:rPr>
              <a:t>Verified through 233 passing backend unit/integration tests and 31 passing frontend component unit tests.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4. </a:t>
            </a:r>
            <a:r>
              <a:rPr sz="1250" b="1">
                <a:solidFill>
                  <a:srgbClr val="111827"/>
                </a:solidFill>
                <a:latin typeface="Helvetica"/>
              </a:rPr>
              <a:t>Methodological &amp; Clinical Honesty: </a:t>
            </a:r>
            <a:r>
              <a:rPr sz="1150">
                <a:solidFill>
                  <a:srgbClr val="111827"/>
                </a:solidFill>
                <a:latin typeface="Arial"/>
              </a:rPr>
              <a:t>Acknowledged synthetic data constraints, single-clinic literature limits, and established the roadmap for prospective RCT pilots.</a:t>
            </a:r>
          </a:p>
          <a:p>
            <a:pPr>
              <a:lnSpc>
                <a:spcPct val="115000"/>
              </a:lnSpc>
              <a:spcBef>
                <a:spcPts val="1100"/>
              </a:spcBef>
              <a:spcAft>
                <a:spcPts val="200"/>
              </a:spcAft>
            </a:pPr>
            <a:r>
              <a:rPr sz="1250" b="1">
                <a:solidFill>
                  <a:srgbClr val="6D28D9"/>
                </a:solidFill>
                <a:latin typeface="Helvetica"/>
              </a:rPr>
              <a:t>5. </a:t>
            </a:r>
            <a:r>
              <a:rPr sz="1250" b="1">
                <a:solidFill>
                  <a:srgbClr val="111827"/>
                </a:solidFill>
                <a:latin typeface="Helvetica"/>
              </a:rPr>
              <a:t>Final Academic Establishing Statement: </a:t>
            </a:r>
            <a:r>
              <a:rPr sz="1150">
                <a:solidFill>
                  <a:srgbClr val="111827"/>
                </a:solidFill>
                <a:latin typeface="Arial"/>
              </a:rPr>
              <a:t>Demonstrates that calibrated machine learning coupled with deterministic operations can safely recover hospital capacity in Sri Lanka.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481328"/>
            <a:ext cx="4599432" cy="4434840"/>
          </a:xfrm>
          <a:prstGeom prst="roundRect">
            <a:avLst/>
          </a:prstGeom>
          <a:solidFill>
            <a:srgbClr val="F9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edia_17911110689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591056"/>
            <a:ext cx="4379976" cy="2737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0" y="5980176"/>
            <a:ext cx="4599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B7280"/>
                </a:solidFill>
                <a:latin typeface="Arial"/>
              </a:defRPr>
            </a:pPr>
            <a:r>
              <a:t>Empirical Evidence: Staff Governance Console &amp; Automated Verification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